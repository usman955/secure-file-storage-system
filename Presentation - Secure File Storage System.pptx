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ITC Avant Garde Gothic" panose="020B0604020202020204" charset="0"/>
      <p:regular r:id="rId13"/>
    </p:embeddedFont>
    <p:embeddedFont>
      <p:font typeface="TT Fors" panose="020B0604020202020204" charset="0"/>
      <p:regular r:id="rId14"/>
    </p:embeddedFont>
    <p:embeddedFont>
      <p:font typeface="TT Fors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7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68150" y="0"/>
            <a:ext cx="6419850" cy="10287000"/>
            <a:chOff x="0" y="0"/>
            <a:chExt cx="994603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94603" cy="1593725"/>
            </a:xfrm>
            <a:custGeom>
              <a:avLst/>
              <a:gdLst/>
              <a:ahLst/>
              <a:cxnLst/>
              <a:rect l="l" t="t" r="r" b="b"/>
              <a:pathLst>
                <a:path w="994603" h="1593725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126" b="-12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9763125" cy="3682999"/>
            <a:chOff x="0" y="0"/>
            <a:chExt cx="13017500" cy="4910666"/>
          </a:xfrm>
        </p:grpSpPr>
        <p:sp>
          <p:nvSpPr>
            <p:cNvPr id="5" name="TextBox 5"/>
            <p:cNvSpPr txBox="1"/>
            <p:nvPr/>
          </p:nvSpPr>
          <p:spPr>
            <a:xfrm>
              <a:off x="0" y="1184275"/>
              <a:ext cx="13017500" cy="37263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99"/>
                </a:lnSpc>
              </a:pPr>
              <a:r>
                <a:rPr lang="en-US" sz="9999" spc="-299">
                  <a:solidFill>
                    <a:srgbClr val="F0F4F5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Secure File Storage System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04775"/>
              <a:ext cx="130175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F0F4F5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SECURE FILE STORAGE INC.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99202" y="8506134"/>
            <a:ext cx="7194651" cy="453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</a:pPr>
            <a:r>
              <a:rPr lang="en-US" sz="2800" dirty="0">
                <a:solidFill>
                  <a:srgbClr val="F0F4F5"/>
                </a:solidFill>
                <a:latin typeface="TT Fors"/>
                <a:ea typeface="TT Fors"/>
                <a:cs typeface="TT Fors"/>
                <a:sym typeface="TT Fors"/>
              </a:rPr>
              <a:t>Presented by: </a:t>
            </a:r>
            <a:r>
              <a:rPr lang="en-US" sz="2800" dirty="0" err="1">
                <a:solidFill>
                  <a:srgbClr val="F0F4F5"/>
                </a:solidFill>
                <a:latin typeface="TT Fors"/>
                <a:ea typeface="TT Fors"/>
                <a:cs typeface="TT Fors"/>
                <a:sym typeface="TT Fors"/>
              </a:rPr>
              <a:t>M.Usman</a:t>
            </a:r>
            <a:r>
              <a:rPr lang="en-US" sz="2800" dirty="0">
                <a:solidFill>
                  <a:srgbClr val="F0F4F5"/>
                </a:solidFill>
                <a:latin typeface="TT Fors"/>
                <a:ea typeface="TT Fors"/>
                <a:cs typeface="TT Fors"/>
                <a:sym typeface="TT Fors"/>
              </a:rPr>
              <a:t> And Talha Hanif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444829" y="7829550"/>
            <a:ext cx="4846643" cy="1791955"/>
            <a:chOff x="0" y="0"/>
            <a:chExt cx="6462190" cy="238927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61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30959" y="752281"/>
            <a:ext cx="2190291" cy="809819"/>
            <a:chOff x="0" y="0"/>
            <a:chExt cx="2920388" cy="10797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666750" y="4057650"/>
            <a:ext cx="4010025" cy="5022437"/>
            <a:chOff x="0" y="0"/>
            <a:chExt cx="5346700" cy="6696583"/>
          </a:xfrm>
        </p:grpSpPr>
        <p:sp>
          <p:nvSpPr>
            <p:cNvPr id="7" name="TextBox 7"/>
            <p:cNvSpPr txBox="1"/>
            <p:nvPr/>
          </p:nvSpPr>
          <p:spPr>
            <a:xfrm>
              <a:off x="0" y="1134576"/>
              <a:ext cx="5346700" cy="55620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69312" lvl="1" indent="-234656" algn="l">
                <a:lnSpc>
                  <a:spcPts val="3043"/>
                </a:lnSpc>
                <a:buFont typeface="Arial"/>
                <a:buChar char="•"/>
              </a:pPr>
              <a:r>
                <a:rPr lang="en-US" sz="2173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Unauthorized access to sensitive files can lead to significant data breaches.  </a:t>
              </a:r>
            </a:p>
            <a:p>
              <a:pPr marL="469312" lvl="1" indent="-234656" algn="l">
                <a:lnSpc>
                  <a:spcPts val="3043"/>
                </a:lnSpc>
                <a:buFont typeface="Arial"/>
                <a:buChar char="•"/>
              </a:pPr>
              <a:r>
                <a:rPr lang="en-US" sz="2173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Attackers exploit weak security measures.  </a:t>
              </a:r>
            </a:p>
            <a:p>
              <a:pPr marL="469312" lvl="1" indent="-234656" algn="l">
                <a:lnSpc>
                  <a:spcPts val="3043"/>
                </a:lnSpc>
                <a:buFont typeface="Arial"/>
                <a:buChar char="•"/>
              </a:pPr>
              <a:r>
                <a:rPr lang="en-US" sz="2173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They can penetrate systems, jeopardizing both personal and organizational information.</a:t>
              </a:r>
            </a:p>
            <a:p>
              <a:pPr marL="0" lvl="0" indent="0" algn="l">
                <a:lnSpc>
                  <a:spcPts val="3043"/>
                </a:lnSpc>
              </a:pPr>
              <a:r>
                <a:rPr lang="en-US" sz="2173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Such incidents may result in serious repercussions.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5346700" cy="6147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94"/>
                </a:lnSpc>
                <a:spcBef>
                  <a:spcPct val="0"/>
                </a:spcBef>
              </a:pPr>
              <a:r>
                <a:rPr lang="en-US" sz="2567" u="none" strike="noStrike" spc="-77">
                  <a:solidFill>
                    <a:srgbClr val="F0F4F5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Unauthorized Access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419850" y="4057650"/>
            <a:ext cx="4010025" cy="5403437"/>
            <a:chOff x="0" y="0"/>
            <a:chExt cx="5346700" cy="720458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34576"/>
              <a:ext cx="5346700" cy="60700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69312" lvl="1" indent="-234656" algn="l">
                <a:lnSpc>
                  <a:spcPts val="3043"/>
                </a:lnSpc>
                <a:buFont typeface="Arial"/>
                <a:buChar char="•"/>
              </a:pPr>
              <a:r>
                <a:rPr lang="en-US" sz="2173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Data leakage occurs when sensitive information is unintentionally revealed.</a:t>
              </a:r>
            </a:p>
            <a:p>
              <a:pPr marL="469312" lvl="1" indent="-234656" algn="l">
                <a:lnSpc>
                  <a:spcPts val="3043"/>
                </a:lnSpc>
                <a:buFont typeface="Arial"/>
                <a:buChar char="•"/>
              </a:pPr>
              <a:r>
                <a:rPr lang="en-US" sz="2173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Can happen due to misconfigured settings.</a:t>
              </a:r>
            </a:p>
            <a:p>
              <a:pPr marL="469312" lvl="1" indent="-234656" algn="l">
                <a:lnSpc>
                  <a:spcPts val="3043"/>
                </a:lnSpc>
                <a:buFont typeface="Arial"/>
                <a:buChar char="•"/>
              </a:pPr>
              <a:r>
                <a:rPr lang="en-US" sz="2173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Insufficient security measures contribute to data leakage.</a:t>
              </a:r>
            </a:p>
            <a:p>
              <a:pPr marL="469312" lvl="1" indent="-234656" algn="l">
                <a:lnSpc>
                  <a:spcPts val="3043"/>
                </a:lnSpc>
                <a:buFont typeface="Arial"/>
                <a:buChar char="•"/>
              </a:pPr>
              <a:r>
                <a:rPr lang="en-US" sz="2173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User mistakes can also cause data leakage.</a:t>
              </a:r>
            </a:p>
            <a:p>
              <a:pPr marL="469312" lvl="1" indent="-234656" algn="l">
                <a:lnSpc>
                  <a:spcPts val="3043"/>
                </a:lnSpc>
                <a:buFont typeface="Arial"/>
                <a:buChar char="•"/>
              </a:pPr>
              <a:r>
                <a:rPr lang="en-US" sz="2173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Results in financial losses.</a:t>
              </a:r>
            </a:p>
            <a:p>
              <a:pPr marL="0" lvl="0" indent="0" algn="l">
                <a:lnSpc>
                  <a:spcPts val="3043"/>
                </a:lnSpc>
              </a:pPr>
              <a:r>
                <a:rPr lang="en-US" sz="2173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Damages reputation.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5346700" cy="6147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94"/>
                </a:lnSpc>
                <a:spcBef>
                  <a:spcPct val="0"/>
                </a:spcBef>
              </a:pPr>
              <a:r>
                <a:rPr lang="en-US" sz="2567" u="none" strike="noStrike" spc="-77">
                  <a:solidFill>
                    <a:srgbClr val="F0F4F5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Data Leakage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172950" y="4057650"/>
            <a:ext cx="4010025" cy="4091527"/>
            <a:chOff x="0" y="0"/>
            <a:chExt cx="5346700" cy="5455370"/>
          </a:xfrm>
        </p:grpSpPr>
        <p:sp>
          <p:nvSpPr>
            <p:cNvPr id="13" name="TextBox 13"/>
            <p:cNvSpPr txBox="1"/>
            <p:nvPr/>
          </p:nvSpPr>
          <p:spPr>
            <a:xfrm>
              <a:off x="0" y="1134576"/>
              <a:ext cx="5346700" cy="43207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47723" lvl="1" indent="-223861" algn="l">
                <a:lnSpc>
                  <a:spcPts val="2903"/>
                </a:lnSpc>
                <a:buFont typeface="Arial"/>
                <a:buChar char="•"/>
              </a:pPr>
              <a:r>
                <a:rPr lang="en-US" sz="2073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File tampering involves unauthorized modifications to data.</a:t>
              </a:r>
            </a:p>
            <a:p>
              <a:pPr marL="447723" lvl="1" indent="-223861" algn="l">
                <a:lnSpc>
                  <a:spcPts val="2903"/>
                </a:lnSpc>
                <a:buFont typeface="Arial"/>
                <a:buChar char="•"/>
              </a:pPr>
              <a:r>
                <a:rPr lang="en-US" sz="2073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It compromises data integrity.</a:t>
              </a:r>
            </a:p>
            <a:p>
              <a:pPr marL="0" lvl="0" indent="0" algn="l">
                <a:lnSpc>
                  <a:spcPts val="2903"/>
                </a:lnSpc>
              </a:pPr>
              <a:r>
                <a:rPr lang="en-US" sz="2073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Strong security measures are essential to ensure stored files remain trustworthy and unchanged.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04775"/>
              <a:ext cx="5346700" cy="6147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94"/>
                </a:lnSpc>
                <a:spcBef>
                  <a:spcPct val="0"/>
                </a:spcBef>
              </a:pPr>
              <a:r>
                <a:rPr lang="en-US" sz="2567" u="none" strike="noStrike" spc="-77">
                  <a:solidFill>
                    <a:srgbClr val="F0F4F5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File Tampering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66750" y="666750"/>
            <a:ext cx="11201400" cy="2162175"/>
            <a:chOff x="0" y="0"/>
            <a:chExt cx="14935200" cy="2882900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9525"/>
              <a:ext cx="14935200" cy="1626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F0F4F5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Risks in File Storage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2235200"/>
              <a:ext cx="134239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</a:pPr>
              <a:r>
                <a:rPr lang="en-US" sz="3199" u="none" strike="noStrike" spc="-95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Understanding the security threats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7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5143500"/>
            <a:ext cx="4010025" cy="3813810"/>
            <a:chOff x="0" y="0"/>
            <a:chExt cx="5346700" cy="5085080"/>
          </a:xfrm>
        </p:grpSpPr>
        <p:sp>
          <p:nvSpPr>
            <p:cNvPr id="3" name="TextBox 3"/>
            <p:cNvSpPr txBox="1"/>
            <p:nvPr/>
          </p:nvSpPr>
          <p:spPr>
            <a:xfrm>
              <a:off x="0" y="1155700"/>
              <a:ext cx="5346700" cy="3929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This project offers an opportunity to </a:t>
              </a:r>
              <a:r>
                <a:rPr lang="en-US" sz="2100" b="1">
                  <a:solidFill>
                    <a:srgbClr val="F0F4F5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understand modern cryptographic techniques</a:t>
              </a:r>
              <a:r>
                <a:rPr lang="en-US" sz="2100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 that secure data, enhancing our knowledge of essential encryption methods and their practical applications in the real world.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53467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F0F4F5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Learn Cryptography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5143500"/>
            <a:ext cx="4010025" cy="3813810"/>
            <a:chOff x="0" y="0"/>
            <a:chExt cx="5346700" cy="5085080"/>
          </a:xfrm>
        </p:grpSpPr>
        <p:sp>
          <p:nvSpPr>
            <p:cNvPr id="6" name="TextBox 6"/>
            <p:cNvSpPr txBox="1"/>
            <p:nvPr/>
          </p:nvSpPr>
          <p:spPr>
            <a:xfrm>
              <a:off x="0" y="1155700"/>
              <a:ext cx="5346700" cy="3929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By implementing robust security measures, we aim to </a:t>
              </a:r>
              <a:r>
                <a:rPr lang="en-US" sz="2100" b="1">
                  <a:solidFill>
                    <a:srgbClr val="F0F4F5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safeguard confidential information</a:t>
              </a:r>
              <a:r>
                <a:rPr lang="en-US" sz="2100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 from unauthorized access and breaches, emphasizing the importance of secure storage in today’s digital landscape.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53467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F0F4F5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Protect Information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2950" y="5143500"/>
            <a:ext cx="4010025" cy="3442335"/>
            <a:chOff x="0" y="0"/>
            <a:chExt cx="5346700" cy="4589780"/>
          </a:xfrm>
        </p:grpSpPr>
        <p:sp>
          <p:nvSpPr>
            <p:cNvPr id="9" name="TextBox 9"/>
            <p:cNvSpPr txBox="1"/>
            <p:nvPr/>
          </p:nvSpPr>
          <p:spPr>
            <a:xfrm>
              <a:off x="0" y="1155700"/>
              <a:ext cx="5346700" cy="34340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The project allows us to </a:t>
              </a:r>
              <a:r>
                <a:rPr lang="en-US" sz="2100" b="1">
                  <a:solidFill>
                    <a:srgbClr val="F0F4F5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apply real-world security concepts</a:t>
              </a:r>
              <a:r>
                <a:rPr lang="en-US" sz="2100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, which not only enhances our technical skills but also prepares us for challenges in information security and data protection.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53467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F0F4F5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Implement Security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6750" y="666750"/>
            <a:ext cx="11201400" cy="3171825"/>
            <a:chOff x="0" y="0"/>
            <a:chExt cx="14935200" cy="422910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"/>
              <a:ext cx="14935200" cy="2972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49B3A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Motivation for the System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3581400"/>
              <a:ext cx="134239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</a:pPr>
              <a:r>
                <a:rPr lang="en-US" sz="3199" u="none" strike="noStrike" spc="-95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Educational and practical goals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430959" y="752281"/>
            <a:ext cx="2190291" cy="809819"/>
            <a:chOff x="0" y="0"/>
            <a:chExt cx="2920388" cy="107975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61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5143500"/>
            <a:ext cx="6886575" cy="3070860"/>
            <a:chOff x="0" y="0"/>
            <a:chExt cx="9182100" cy="4094480"/>
          </a:xfrm>
        </p:grpSpPr>
        <p:sp>
          <p:nvSpPr>
            <p:cNvPr id="3" name="TextBox 3"/>
            <p:cNvSpPr txBox="1"/>
            <p:nvPr/>
          </p:nvSpPr>
          <p:spPr>
            <a:xfrm>
              <a:off x="0" y="1155700"/>
              <a:ext cx="9182100" cy="29387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The system allows users to </a:t>
              </a:r>
              <a:r>
                <a:rPr lang="en-US" sz="2100" b="1">
                  <a:solidFill>
                    <a:srgbClr val="F0F4F5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upload files securely</a:t>
              </a:r>
              <a:r>
                <a:rPr lang="en-US" sz="2100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, ensuring that all data is </a:t>
              </a:r>
              <a:r>
                <a:rPr lang="en-US" sz="2100" b="1">
                  <a:solidFill>
                    <a:srgbClr val="F0F4F5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encrypted during transmission</a:t>
              </a:r>
              <a:r>
                <a:rPr lang="en-US" sz="2100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 and storage. This prevents unauthorized access and protects sensitive information from potential breaches, aligning with modern data security practices.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F0F4F5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Encrypted Upload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5143500"/>
            <a:ext cx="6886575" cy="3070860"/>
            <a:chOff x="0" y="0"/>
            <a:chExt cx="9182100" cy="4094480"/>
          </a:xfrm>
        </p:grpSpPr>
        <p:sp>
          <p:nvSpPr>
            <p:cNvPr id="6" name="TextBox 6"/>
            <p:cNvSpPr txBox="1"/>
            <p:nvPr/>
          </p:nvSpPr>
          <p:spPr>
            <a:xfrm>
              <a:off x="0" y="1155700"/>
              <a:ext cx="9182100" cy="29387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By enforcing a policy of </a:t>
              </a:r>
              <a:r>
                <a:rPr lang="en-US" sz="2100" b="1">
                  <a:solidFill>
                    <a:srgbClr val="F0F4F5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never storing plaintext data</a:t>
              </a:r>
              <a:r>
                <a:rPr lang="en-US" sz="2100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, the system mitigates risks associated with data leaks. Sensitive information is always </a:t>
              </a:r>
              <a:r>
                <a:rPr lang="en-US" sz="2100" b="1">
                  <a:solidFill>
                    <a:srgbClr val="F0F4F5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encrypted</a:t>
              </a:r>
              <a:r>
                <a:rPr lang="en-US" sz="2100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, ensuring that even if data is compromised, it remains unreadable without the proper keys. This focus on security reinforces user trust.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F0F4F5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No Plaintext Stored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666750"/>
            <a:ext cx="11201400" cy="3171825"/>
            <a:chOff x="0" y="0"/>
            <a:chExt cx="14935200" cy="4229100"/>
          </a:xfrm>
        </p:grpSpPr>
        <p:sp>
          <p:nvSpPr>
            <p:cNvPr id="9" name="TextBox 9"/>
            <p:cNvSpPr txBox="1"/>
            <p:nvPr/>
          </p:nvSpPr>
          <p:spPr>
            <a:xfrm>
              <a:off x="0" y="-9525"/>
              <a:ext cx="14935200" cy="2972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F0F4F5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Proposed Solution Overview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3581400"/>
              <a:ext cx="134239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u="none" strike="noStrike" spc="-95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Secure File Storage System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430959" y="752281"/>
            <a:ext cx="2190291" cy="809819"/>
            <a:chOff x="0" y="0"/>
            <a:chExt cx="2920388" cy="107975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7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6886575" cy="3543300"/>
            <a:chOff x="0" y="0"/>
            <a:chExt cx="9182100" cy="47244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9182100" cy="2972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49B3A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System Architecture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362325"/>
              <a:ext cx="9182100" cy="1362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u="none" strike="noStrike" spc="-95">
                  <a:solidFill>
                    <a:srgbClr val="F0F4F5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Detailed overview of program components and structure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1562100"/>
            <a:ext cx="6886575" cy="1919827"/>
            <a:chOff x="0" y="0"/>
            <a:chExt cx="9182100" cy="2559770"/>
          </a:xfrm>
        </p:grpSpPr>
        <p:sp>
          <p:nvSpPr>
            <p:cNvPr id="6" name="TextBox 6"/>
            <p:cNvSpPr txBox="1"/>
            <p:nvPr/>
          </p:nvSpPr>
          <p:spPr>
            <a:xfrm>
              <a:off x="0" y="1134576"/>
              <a:ext cx="9182100" cy="14251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03"/>
                </a:lnSpc>
                <a:spcBef>
                  <a:spcPct val="0"/>
                </a:spcBef>
              </a:pPr>
              <a:r>
                <a:rPr lang="en-US" sz="2073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The main.py file handles command-line interactions, providing users with a simple interface to navigate the secure file storage system.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9182100" cy="6147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94"/>
                </a:lnSpc>
                <a:spcBef>
                  <a:spcPct val="0"/>
                </a:spcBef>
              </a:pPr>
              <a:r>
                <a:rPr lang="en-US" sz="2567" u="none" strike="noStrike" spc="-77">
                  <a:solidFill>
                    <a:srgbClr val="F0F4F5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CLI Logic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4248150"/>
            <a:ext cx="6886575" cy="1919827"/>
            <a:chOff x="0" y="0"/>
            <a:chExt cx="9182100" cy="2559770"/>
          </a:xfrm>
        </p:grpSpPr>
        <p:sp>
          <p:nvSpPr>
            <p:cNvPr id="9" name="TextBox 9"/>
            <p:cNvSpPr txBox="1"/>
            <p:nvPr/>
          </p:nvSpPr>
          <p:spPr>
            <a:xfrm>
              <a:off x="0" y="1134576"/>
              <a:ext cx="9182100" cy="14251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03"/>
                </a:lnSpc>
                <a:spcBef>
                  <a:spcPct val="0"/>
                </a:spcBef>
              </a:pPr>
              <a:r>
                <a:rPr lang="en-US" sz="2073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The database.py file initializes and manages the SQLite database, ensuring efficient storage and retrieval of user and file data securely.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9182100" cy="6147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94"/>
                </a:lnSpc>
                <a:spcBef>
                  <a:spcPct val="0"/>
                </a:spcBef>
              </a:pPr>
              <a:r>
                <a:rPr lang="en-US" sz="2567" u="none" strike="noStrike" spc="-77">
                  <a:solidFill>
                    <a:srgbClr val="F0F4F5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SQLite Setup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6938010"/>
            <a:ext cx="6886575" cy="2281777"/>
            <a:chOff x="0" y="0"/>
            <a:chExt cx="9182100" cy="304237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1134576"/>
              <a:ext cx="9182100" cy="19077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03"/>
                </a:lnSpc>
                <a:spcBef>
                  <a:spcPct val="0"/>
                </a:spcBef>
              </a:pPr>
              <a:r>
                <a:rPr lang="en-US" sz="2073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The crypto_utils.py file implements AES encryption and PBKDF2 key derivation, providing essential cryptographic functions for securing data throughout the system.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04775"/>
              <a:ext cx="9182100" cy="6147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94"/>
                </a:lnSpc>
                <a:spcBef>
                  <a:spcPct val="0"/>
                </a:spcBef>
              </a:pPr>
              <a:r>
                <a:rPr lang="en-US" sz="2567" u="none" strike="noStrike" spc="-77">
                  <a:solidFill>
                    <a:srgbClr val="F0F4F5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Cryptographic Utilities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13165" y="7835439"/>
            <a:ext cx="4846643" cy="1791955"/>
            <a:chOff x="0" y="0"/>
            <a:chExt cx="6462190" cy="238927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61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6886575" cy="3543300"/>
            <a:chOff x="0" y="0"/>
            <a:chExt cx="9182100" cy="47244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9182100" cy="2972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F0F4F5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Security Features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362325"/>
              <a:ext cx="9182100" cy="1362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u="none" strike="noStrike" spc="-95">
                  <a:solidFill>
                    <a:srgbClr val="F0F4F5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Key cryptographic components ensuring data protection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1562100"/>
            <a:ext cx="6886575" cy="1920573"/>
            <a:chOff x="0" y="0"/>
            <a:chExt cx="9182100" cy="2560764"/>
          </a:xfrm>
        </p:grpSpPr>
        <p:sp>
          <p:nvSpPr>
            <p:cNvPr id="6" name="TextBox 6"/>
            <p:cNvSpPr txBox="1"/>
            <p:nvPr/>
          </p:nvSpPr>
          <p:spPr>
            <a:xfrm>
              <a:off x="0" y="1144651"/>
              <a:ext cx="9182100" cy="14161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84"/>
                </a:lnSpc>
                <a:spcBef>
                  <a:spcPct val="0"/>
                </a:spcBef>
              </a:pPr>
              <a:r>
                <a:rPr lang="en-US" sz="2060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bcrypt is utilized for secure password storage, ensuring that no plaintext passwords are ever stored, thereby enhancing overall security.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9182100" cy="6152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71"/>
                </a:lnSpc>
                <a:spcBef>
                  <a:spcPct val="0"/>
                </a:spcBef>
              </a:pPr>
              <a:r>
                <a:rPr lang="en-US" sz="2551" u="none" strike="noStrike" spc="-76">
                  <a:solidFill>
                    <a:srgbClr val="F0F4F5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bcrypt Hashing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4248150"/>
            <a:ext cx="6886575" cy="1920573"/>
            <a:chOff x="0" y="0"/>
            <a:chExt cx="9182100" cy="2560764"/>
          </a:xfrm>
        </p:grpSpPr>
        <p:sp>
          <p:nvSpPr>
            <p:cNvPr id="9" name="TextBox 9"/>
            <p:cNvSpPr txBox="1"/>
            <p:nvPr/>
          </p:nvSpPr>
          <p:spPr>
            <a:xfrm>
              <a:off x="0" y="1144651"/>
              <a:ext cx="9182100" cy="14161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84"/>
                </a:lnSpc>
                <a:spcBef>
                  <a:spcPct val="0"/>
                </a:spcBef>
              </a:pPr>
              <a:r>
                <a:rPr lang="en-US" sz="2060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PBKDF2 with HMAC-SHA256 is employed to derive strong encryption keys, significantly increasing resistance against brute-force attacks and enhancing security.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9182100" cy="6152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71"/>
                </a:lnSpc>
                <a:spcBef>
                  <a:spcPct val="0"/>
                </a:spcBef>
              </a:pPr>
              <a:r>
                <a:rPr lang="en-US" sz="2551" u="none" strike="noStrike" spc="-76">
                  <a:solidFill>
                    <a:srgbClr val="F0F4F5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PBKDF2 Key Derivation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6938010"/>
            <a:ext cx="6886575" cy="1920573"/>
            <a:chOff x="0" y="0"/>
            <a:chExt cx="9182100" cy="2560764"/>
          </a:xfrm>
        </p:grpSpPr>
        <p:sp>
          <p:nvSpPr>
            <p:cNvPr id="12" name="TextBox 12"/>
            <p:cNvSpPr txBox="1"/>
            <p:nvPr/>
          </p:nvSpPr>
          <p:spPr>
            <a:xfrm>
              <a:off x="0" y="1144651"/>
              <a:ext cx="9182100" cy="14161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84"/>
                </a:lnSpc>
                <a:spcBef>
                  <a:spcPct val="0"/>
                </a:spcBef>
              </a:pPr>
              <a:r>
                <a:rPr lang="en-US" sz="2060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AES-256-GCM encryption is implemented to provide authenticated encryption, ensuring both confidentiality and data integrity for stored files.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04775"/>
              <a:ext cx="9182100" cy="6152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71"/>
                </a:lnSpc>
                <a:spcBef>
                  <a:spcPct val="0"/>
                </a:spcBef>
              </a:pPr>
              <a:r>
                <a:rPr lang="en-US" sz="2551" u="none" strike="noStrike" spc="-76">
                  <a:solidFill>
                    <a:srgbClr val="F0F4F5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AES-256 Encryption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04800" y="8115300"/>
            <a:ext cx="4846643" cy="1791955"/>
            <a:chOff x="0" y="0"/>
            <a:chExt cx="6462190" cy="238927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7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1562100"/>
            <a:ext cx="6886575" cy="2327910"/>
            <a:chOff x="0" y="0"/>
            <a:chExt cx="9182100" cy="3103880"/>
          </a:xfrm>
        </p:grpSpPr>
        <p:sp>
          <p:nvSpPr>
            <p:cNvPr id="3" name="TextBox 3"/>
            <p:cNvSpPr txBox="1"/>
            <p:nvPr/>
          </p:nvSpPr>
          <p:spPr>
            <a:xfrm>
              <a:off x="0" y="1155700"/>
              <a:ext cx="9182100" cy="19481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The </a:t>
              </a:r>
              <a:r>
                <a:rPr lang="en-US" sz="2100" b="1">
                  <a:solidFill>
                    <a:srgbClr val="F0F4F5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users</a:t>
              </a:r>
              <a:r>
                <a:rPr lang="en-US" sz="2100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 table stores crucial information, including a unique identifier, username, and password hash. This ensures secure user authentication without exposing sensitive data in plaintext.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F0F4F5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Users Table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5143500"/>
            <a:ext cx="6886575" cy="2327910"/>
            <a:chOff x="0" y="0"/>
            <a:chExt cx="9182100" cy="3103880"/>
          </a:xfrm>
        </p:grpSpPr>
        <p:sp>
          <p:nvSpPr>
            <p:cNvPr id="6" name="TextBox 6"/>
            <p:cNvSpPr txBox="1"/>
            <p:nvPr/>
          </p:nvSpPr>
          <p:spPr>
            <a:xfrm>
              <a:off x="0" y="1155700"/>
              <a:ext cx="9182100" cy="19481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The </a:t>
              </a:r>
              <a:r>
                <a:rPr lang="en-US" sz="2100" b="1">
                  <a:solidFill>
                    <a:srgbClr val="F0F4F5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files</a:t>
              </a:r>
              <a:r>
                <a:rPr lang="en-US" sz="2100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 table links user IDs to encrypted files, including metadata like filenames and upload timestamps. It maintains security through structured access without storing the actual encrypted content.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F0F4F5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Files Table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666750"/>
            <a:ext cx="6886575" cy="3543300"/>
            <a:chOff x="0" y="0"/>
            <a:chExt cx="9182100" cy="4724400"/>
          </a:xfrm>
        </p:grpSpPr>
        <p:sp>
          <p:nvSpPr>
            <p:cNvPr id="9" name="TextBox 9"/>
            <p:cNvSpPr txBox="1"/>
            <p:nvPr/>
          </p:nvSpPr>
          <p:spPr>
            <a:xfrm>
              <a:off x="0" y="-9525"/>
              <a:ext cx="9182100" cy="2972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49B3A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Database Schema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3362325"/>
              <a:ext cx="9182100" cy="1362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u="none" strike="noStrike" spc="-95">
                  <a:solidFill>
                    <a:srgbClr val="F0F4F5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Understanding the SQLite structure for secure storage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2593" y="8039100"/>
            <a:ext cx="4846643" cy="1791955"/>
            <a:chOff x="0" y="0"/>
            <a:chExt cx="6462190" cy="238927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61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57225"/>
            <a:ext cx="15516225" cy="1222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>
                <a:solidFill>
                  <a:srgbClr val="49B3A3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System Workflow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7829550"/>
            <a:ext cx="6886575" cy="1790700"/>
            <a:chOff x="0" y="0"/>
            <a:chExt cx="9182100" cy="2387600"/>
          </a:xfrm>
        </p:grpSpPr>
        <p:sp>
          <p:nvSpPr>
            <p:cNvPr id="4" name="TextBox 4"/>
            <p:cNvSpPr txBox="1"/>
            <p:nvPr/>
          </p:nvSpPr>
          <p:spPr>
            <a:xfrm>
              <a:off x="0" y="934720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Registered users authenticate by entering their credentials, prompting the system to derive a secure AES key from the password.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F0F4F5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Login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6750" y="5143433"/>
            <a:ext cx="6886575" cy="1790700"/>
            <a:chOff x="0" y="0"/>
            <a:chExt cx="9182100" cy="2387600"/>
          </a:xfrm>
        </p:grpSpPr>
        <p:sp>
          <p:nvSpPr>
            <p:cNvPr id="7" name="TextBox 7"/>
            <p:cNvSpPr txBox="1"/>
            <p:nvPr/>
          </p:nvSpPr>
          <p:spPr>
            <a:xfrm>
              <a:off x="0" y="934720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Users create an account by providing a username and a strong password, which is securely hashed using bcrypt for protection.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F0F4F5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Register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96400" y="7829483"/>
            <a:ext cx="6886575" cy="1790700"/>
            <a:chOff x="0" y="0"/>
            <a:chExt cx="9182100" cy="238760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934720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The encrypted files are saved in the database, ensuring that no plaintext data is retained on the server, enhancing security.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F0F4F5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Store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296400" y="5143500"/>
            <a:ext cx="6886575" cy="1790700"/>
            <a:chOff x="0" y="0"/>
            <a:chExt cx="9182100" cy="2387600"/>
          </a:xfrm>
        </p:grpSpPr>
        <p:sp>
          <p:nvSpPr>
            <p:cNvPr id="13" name="TextBox 13"/>
            <p:cNvSpPr txBox="1"/>
            <p:nvPr/>
          </p:nvSpPr>
          <p:spPr>
            <a:xfrm>
              <a:off x="0" y="934720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After logging in, users can upload files, which are encrypted using AES-256-GCM to ensure confidentiality before storage.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F0F4F5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Upload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7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1562100"/>
            <a:ext cx="6886575" cy="2699385"/>
            <a:chOff x="0" y="0"/>
            <a:chExt cx="9182100" cy="3599180"/>
          </a:xfrm>
        </p:grpSpPr>
        <p:sp>
          <p:nvSpPr>
            <p:cNvPr id="3" name="TextBox 3"/>
            <p:cNvSpPr txBox="1"/>
            <p:nvPr/>
          </p:nvSpPr>
          <p:spPr>
            <a:xfrm>
              <a:off x="0" y="1155700"/>
              <a:ext cx="9182100" cy="24434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bcrypt securely hashes passwords, ensuring </a:t>
              </a:r>
              <a:r>
                <a:rPr lang="en-US" sz="2100" b="1">
                  <a:solidFill>
                    <a:srgbClr val="F0F4F5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no plaintext</a:t>
              </a:r>
              <a:r>
                <a:rPr lang="en-US" sz="2100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 storage. This method provides defense against unauthorized access, as even if compromised, the original passwords remain unrecoverable and well-protected.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F0F4F5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bcrypt Authentication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5143500"/>
            <a:ext cx="6886575" cy="2699385"/>
            <a:chOff x="0" y="0"/>
            <a:chExt cx="9182100" cy="3599180"/>
          </a:xfrm>
        </p:grpSpPr>
        <p:sp>
          <p:nvSpPr>
            <p:cNvPr id="6" name="TextBox 6"/>
            <p:cNvSpPr txBox="1"/>
            <p:nvPr/>
          </p:nvSpPr>
          <p:spPr>
            <a:xfrm>
              <a:off x="0" y="1155700"/>
              <a:ext cx="9182100" cy="24434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PBKDF2-HMAC-SHA256 derives strong encryption keys through repetitive hashing, making brute-force attacks significantly more difficult. This approach enhances security by </a:t>
              </a:r>
              <a:r>
                <a:rPr lang="en-US" sz="2100" b="1">
                  <a:solidFill>
                    <a:srgbClr val="F0F4F5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stretching</a:t>
              </a:r>
              <a:r>
                <a:rPr lang="en-US" sz="2100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 the key material over numerous iterations.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F0F4F5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PBKDF2 Key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666750"/>
            <a:ext cx="6886575" cy="3543300"/>
            <a:chOff x="0" y="0"/>
            <a:chExt cx="9182100" cy="4724400"/>
          </a:xfrm>
        </p:grpSpPr>
        <p:sp>
          <p:nvSpPr>
            <p:cNvPr id="9" name="TextBox 9"/>
            <p:cNvSpPr txBox="1"/>
            <p:nvPr/>
          </p:nvSpPr>
          <p:spPr>
            <a:xfrm>
              <a:off x="0" y="-9525"/>
              <a:ext cx="9182100" cy="2972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49B3A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Cryptography Breakdown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3362325"/>
              <a:ext cx="9182100" cy="1362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u="none" strike="noStrike" spc="-95">
                  <a:solidFill>
                    <a:srgbClr val="F0F4F5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Understanding the core cryptographic techniques used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96837" y="8115300"/>
            <a:ext cx="4846643" cy="1791955"/>
            <a:chOff x="0" y="0"/>
            <a:chExt cx="6462190" cy="238927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61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5143500"/>
            <a:ext cx="4010025" cy="3070860"/>
            <a:chOff x="0" y="0"/>
            <a:chExt cx="5346700" cy="4094480"/>
          </a:xfrm>
        </p:grpSpPr>
        <p:sp>
          <p:nvSpPr>
            <p:cNvPr id="3" name="TextBox 3"/>
            <p:cNvSpPr txBox="1"/>
            <p:nvPr/>
          </p:nvSpPr>
          <p:spPr>
            <a:xfrm>
              <a:off x="0" y="1155700"/>
              <a:ext cx="5346700" cy="29387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The first step involves creating a user account, where the username is registered and the password securely hashed using bcrypt, ensuring that no plaintext passwords are stored.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53467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F0F4F5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Create User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5143500"/>
            <a:ext cx="4010025" cy="3442335"/>
            <a:chOff x="0" y="0"/>
            <a:chExt cx="5346700" cy="4589780"/>
          </a:xfrm>
        </p:grpSpPr>
        <p:sp>
          <p:nvSpPr>
            <p:cNvPr id="6" name="TextBox 6"/>
            <p:cNvSpPr txBox="1"/>
            <p:nvPr/>
          </p:nvSpPr>
          <p:spPr>
            <a:xfrm>
              <a:off x="0" y="1155700"/>
              <a:ext cx="5346700" cy="34340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Upon logging in, the system derives the AES key from the user's password with PBKDF2, enabling secure access to encrypted files and ensuring that only authenticated users can proceed.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53467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F0F4F5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Login &amp; Derive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2950" y="5143500"/>
            <a:ext cx="4010025" cy="3813810"/>
            <a:chOff x="0" y="0"/>
            <a:chExt cx="5346700" cy="5085080"/>
          </a:xfrm>
        </p:grpSpPr>
        <p:sp>
          <p:nvSpPr>
            <p:cNvPr id="9" name="TextBox 9"/>
            <p:cNvSpPr txBox="1"/>
            <p:nvPr/>
          </p:nvSpPr>
          <p:spPr>
            <a:xfrm>
              <a:off x="0" y="1155700"/>
              <a:ext cx="5346700" cy="3929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When uploading files, the selected file is encrypted using AES-256-GCM before being stored, ensuring data confidentiality and preventing unauthorized access to sensitive information throughout the process.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53467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F0F4F5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Encrypt Upload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6750" y="666750"/>
            <a:ext cx="11201400" cy="2162175"/>
            <a:chOff x="0" y="0"/>
            <a:chExt cx="14935200" cy="288290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"/>
              <a:ext cx="14935200" cy="1626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F0F4F5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Demo Steps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235200"/>
              <a:ext cx="134239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</a:pPr>
              <a:r>
                <a:rPr lang="en-US" sz="3199" u="none" strike="noStrike" spc="-95">
                  <a:solidFill>
                    <a:srgbClr val="F0F4F5"/>
                  </a:solidFill>
                  <a:latin typeface="TT Fors"/>
                  <a:ea typeface="TT Fors"/>
                  <a:cs typeface="TT Fors"/>
                  <a:sym typeface="TT Fors"/>
                </a:rPr>
                <a:t>Key actions in workflow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430959" y="752281"/>
            <a:ext cx="2190291" cy="809819"/>
            <a:chOff x="0" y="0"/>
            <a:chExt cx="2920388" cy="107975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7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24600" y="4177057"/>
            <a:ext cx="11201400" cy="1036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spc="-240" dirty="0">
                <a:solidFill>
                  <a:srgbClr val="F0F4F5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THANK YOU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3441357" y="8039100"/>
            <a:ext cx="4846643" cy="1791955"/>
            <a:chOff x="0" y="0"/>
            <a:chExt cx="6462190" cy="23892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850</Words>
  <Application>Microsoft Office PowerPoint</Application>
  <PresentationFormat>Custom</PresentationFormat>
  <Paragraphs>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ITC Avant Garde Gothic</vt:lpstr>
      <vt:lpstr>Calibri</vt:lpstr>
      <vt:lpstr>Arial</vt:lpstr>
      <vt:lpstr>TT Fors</vt:lpstr>
      <vt:lpstr>TT Fors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Secure File Storage System</dc:title>
  <dc:description>Presentation - Secure File Storage System</dc:description>
  <cp:lastModifiedBy>USMAN .</cp:lastModifiedBy>
  <cp:revision>4</cp:revision>
  <dcterms:created xsi:type="dcterms:W3CDTF">2006-08-16T00:00:00Z</dcterms:created>
  <dcterms:modified xsi:type="dcterms:W3CDTF">2025-11-25T18:17:59Z</dcterms:modified>
  <dc:identifier>DAG5uZl5eiE</dc:identifier>
</cp:coreProperties>
</file>